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Montserrat"/>
      <p:regular r:id="rId21"/>
      <p:bold r:id="rId22"/>
      <p:italic r:id="rId23"/>
      <p:boldItalic r:id="rId24"/>
    </p:embeddedFont>
    <p:embeddedFont>
      <p:font typeface="Lato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Montserrat-bold.fntdata"/><Relationship Id="rId21" Type="http://schemas.openxmlformats.org/officeDocument/2006/relationships/font" Target="fonts/Montserrat-regular.fntdata"/><Relationship Id="rId24" Type="http://schemas.openxmlformats.org/officeDocument/2006/relationships/font" Target="fonts/Montserrat-boldItalic.fntdata"/><Relationship Id="rId23" Type="http://schemas.openxmlformats.org/officeDocument/2006/relationships/font" Target="fonts/Montserrat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bold.fntdata"/><Relationship Id="rId25" Type="http://schemas.openxmlformats.org/officeDocument/2006/relationships/font" Target="fonts/Lato-regular.fntdata"/><Relationship Id="rId28" Type="http://schemas.openxmlformats.org/officeDocument/2006/relationships/font" Target="fonts/Lato-boldItalic.fntdata"/><Relationship Id="rId27" Type="http://schemas.openxmlformats.org/officeDocument/2006/relationships/font" Target="fonts/La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1050f6d6dd5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1050f6d6dd5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1050f6d6dd5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1050f6d6dd5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1050f6d6dd5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1050f6d6dd5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1050f6d6dd5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1050f6d6dd5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1050f6d6dd5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1050f6d6dd5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1050f6d6dd5_0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1050f6d6dd5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1050f6d6dd5_0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1050f6d6dd5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1050f6d6dd5_0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1050f6d6dd5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1050f6d6dd5_0_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1050f6d6dd5_0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1050f6d6dd5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1050f6d6dd5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1050f6d6dd5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1050f6d6dd5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106200b1110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106200b1110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106200b1110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106200b1110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106200b1110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106200b111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stackoverflow.com/questions/70061685/can-a-tweeter-bot-post-tweets-or-quotes-via-v2-api-essential-access" TargetMode="External"/><Relationship Id="rId4" Type="http://schemas.openxmlformats.org/officeDocument/2006/relationships/hyperlink" Target="https://docs.tweepy.org/en/stable/" TargetMode="External"/><Relationship Id="rId5" Type="http://schemas.openxmlformats.org/officeDocument/2006/relationships/hyperlink" Target="https://www.programiz.com/python-programming/time" TargetMode="External"/><Relationship Id="rId6" Type="http://schemas.openxmlformats.org/officeDocument/2006/relationships/hyperlink" Target="https://quotecatalog.com/quotes/tv/the-office" TargetMode="External"/><Relationship Id="rId7" Type="http://schemas.openxmlformats.org/officeDocument/2006/relationships/hyperlink" Target="https://auth0.com/blog/how-to-make-a-twitter-bot-in-python-using-tweepy/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“The Office” Twitter quote bot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Ethan Brinks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Background</a:t>
            </a:r>
            <a:endParaRPr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Videos </a:t>
            </a:r>
            <a:r>
              <a:rPr lang="en"/>
              <a:t>previously</a:t>
            </a:r>
            <a:r>
              <a:rPr lang="en"/>
              <a:t> seen on YouTube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Data collection for conclusion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Practicality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Automation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Visualization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Goals for Bot</a:t>
            </a:r>
            <a:endParaRPr/>
          </a:p>
        </p:txBody>
      </p:sp>
      <p:sp>
        <p:nvSpPr>
          <p:cNvPr id="147" name="Google Shape;147;p1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Tweet a quote from “The Office” on the hour every hour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Reply to mentions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Follow back people that follow the bot</a:t>
            </a:r>
            <a:endParaRPr/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Pre-coding</a:t>
            </a:r>
            <a:endParaRPr/>
          </a:p>
        </p:txBody>
      </p:sp>
      <p:sp>
        <p:nvSpPr>
          <p:cNvPr id="153" name="Google Shape;153;p1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Modules that need to be imported</a:t>
            </a:r>
            <a:endParaRPr/>
          </a:p>
          <a:p>
            <a:pPr indent="-2984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Tweepy</a:t>
            </a:r>
            <a:endParaRPr/>
          </a:p>
          <a:p>
            <a:pPr indent="-2984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Time</a:t>
            </a:r>
            <a:endParaRPr/>
          </a:p>
          <a:p>
            <a:pPr indent="-2984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Random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How the API works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How to create a Twitter developer account</a:t>
            </a:r>
            <a:endParaRPr/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Backend</a:t>
            </a:r>
            <a:endParaRPr/>
          </a:p>
        </p:txBody>
      </p:sp>
      <p:pic>
        <p:nvPicPr>
          <p:cNvPr id="159" name="Google Shape;15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71250" y="467675"/>
            <a:ext cx="2977275" cy="4208148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 txBox="1"/>
          <p:nvPr>
            <p:ph idx="1" type="body"/>
          </p:nvPr>
        </p:nvSpPr>
        <p:spPr>
          <a:xfrm>
            <a:off x="1297500" y="1611425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Text file of formatted quotes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Backend</a:t>
            </a:r>
            <a:endParaRPr/>
          </a:p>
        </p:txBody>
      </p:sp>
      <p:sp>
        <p:nvSpPr>
          <p:cNvPr id="166" name="Google Shape;166;p18"/>
          <p:cNvSpPr txBox="1"/>
          <p:nvPr>
            <p:ph idx="1" type="body"/>
          </p:nvPr>
        </p:nvSpPr>
        <p:spPr>
          <a:xfrm>
            <a:off x="1297500" y="1611425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Text file of formatted quotes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Python file coded in Atom text editor</a:t>
            </a:r>
            <a:endParaRPr/>
          </a:p>
          <a:p>
            <a:pPr indent="-2984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4 “sections” of the program</a:t>
            </a:r>
            <a:endParaRPr/>
          </a:p>
        </p:txBody>
      </p:sp>
      <p:pic>
        <p:nvPicPr>
          <p:cNvPr id="167" name="Google Shape;16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48775" y="770375"/>
            <a:ext cx="4345352" cy="3667551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8"/>
          <p:cNvSpPr/>
          <p:nvPr/>
        </p:nvSpPr>
        <p:spPr>
          <a:xfrm>
            <a:off x="4624550" y="1066525"/>
            <a:ext cx="4980000" cy="195300"/>
          </a:xfrm>
          <a:prstGeom prst="mathMinus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8"/>
          <p:cNvSpPr/>
          <p:nvPr/>
        </p:nvSpPr>
        <p:spPr>
          <a:xfrm>
            <a:off x="4648775" y="1145800"/>
            <a:ext cx="4980000" cy="195300"/>
          </a:xfrm>
          <a:prstGeom prst="mathMinus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8"/>
          <p:cNvSpPr/>
          <p:nvPr/>
        </p:nvSpPr>
        <p:spPr>
          <a:xfrm>
            <a:off x="4730550" y="1234825"/>
            <a:ext cx="4898100" cy="195300"/>
          </a:xfrm>
          <a:prstGeom prst="mathMinus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8"/>
          <p:cNvSpPr/>
          <p:nvPr/>
        </p:nvSpPr>
        <p:spPr>
          <a:xfrm>
            <a:off x="4624550" y="1307850"/>
            <a:ext cx="4980000" cy="195300"/>
          </a:xfrm>
          <a:prstGeom prst="mathMinus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8"/>
          <p:cNvSpPr/>
          <p:nvPr/>
        </p:nvSpPr>
        <p:spPr>
          <a:xfrm>
            <a:off x="4850075" y="1378613"/>
            <a:ext cx="4701900" cy="195300"/>
          </a:xfrm>
          <a:prstGeom prst="mathMinus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8"/>
          <p:cNvSpPr/>
          <p:nvPr/>
        </p:nvSpPr>
        <p:spPr>
          <a:xfrm>
            <a:off x="4690100" y="1066525"/>
            <a:ext cx="4304100" cy="7275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8"/>
          <p:cNvSpPr/>
          <p:nvPr/>
        </p:nvSpPr>
        <p:spPr>
          <a:xfrm>
            <a:off x="4690100" y="1794125"/>
            <a:ext cx="4304100" cy="6435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8"/>
          <p:cNvSpPr/>
          <p:nvPr/>
        </p:nvSpPr>
        <p:spPr>
          <a:xfrm>
            <a:off x="4690100" y="2437625"/>
            <a:ext cx="4304100" cy="6435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8"/>
          <p:cNvSpPr/>
          <p:nvPr/>
        </p:nvSpPr>
        <p:spPr>
          <a:xfrm>
            <a:off x="4690100" y="3081125"/>
            <a:ext cx="4304100" cy="11898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Connection</a:t>
            </a:r>
            <a:endParaRPr/>
          </a:p>
        </p:txBody>
      </p:sp>
      <p:pic>
        <p:nvPicPr>
          <p:cNvPr id="182" name="Google Shape;18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3213" y="1872412"/>
            <a:ext cx="8627477" cy="1398675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9"/>
          <p:cNvSpPr/>
          <p:nvPr/>
        </p:nvSpPr>
        <p:spPr>
          <a:xfrm>
            <a:off x="503225" y="1872400"/>
            <a:ext cx="9647100" cy="279300"/>
          </a:xfrm>
          <a:prstGeom prst="mathMinus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9"/>
          <p:cNvSpPr/>
          <p:nvPr/>
        </p:nvSpPr>
        <p:spPr>
          <a:xfrm>
            <a:off x="475225" y="2034550"/>
            <a:ext cx="9647100" cy="279300"/>
          </a:xfrm>
          <a:prstGeom prst="mathMinus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9"/>
          <p:cNvSpPr/>
          <p:nvPr/>
        </p:nvSpPr>
        <p:spPr>
          <a:xfrm>
            <a:off x="647150" y="2201575"/>
            <a:ext cx="9503100" cy="279300"/>
          </a:xfrm>
          <a:prstGeom prst="mathMinus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9"/>
          <p:cNvSpPr/>
          <p:nvPr/>
        </p:nvSpPr>
        <p:spPr>
          <a:xfrm>
            <a:off x="475225" y="2378350"/>
            <a:ext cx="9647100" cy="279300"/>
          </a:xfrm>
          <a:prstGeom prst="mathMinus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9"/>
          <p:cNvSpPr/>
          <p:nvPr/>
        </p:nvSpPr>
        <p:spPr>
          <a:xfrm>
            <a:off x="888575" y="2530750"/>
            <a:ext cx="9325200" cy="279300"/>
          </a:xfrm>
          <a:prstGeom prst="mathMinus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File Open</a:t>
            </a:r>
            <a:endParaRPr/>
          </a:p>
        </p:txBody>
      </p:sp>
      <p:pic>
        <p:nvPicPr>
          <p:cNvPr id="193" name="Google Shape;19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76400" y="1676400"/>
            <a:ext cx="5791200" cy="179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Tweet Action</a:t>
            </a:r>
            <a:endParaRPr/>
          </a:p>
        </p:txBody>
      </p:sp>
      <p:pic>
        <p:nvPicPr>
          <p:cNvPr id="199" name="Google Shape;19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739288"/>
            <a:ext cx="8839199" cy="16649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Constant Loop and Follow Back Action</a:t>
            </a:r>
            <a:endParaRPr/>
          </a:p>
        </p:txBody>
      </p:sp>
      <p:pic>
        <p:nvPicPr>
          <p:cNvPr id="205" name="Google Shape;20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65350"/>
            <a:ext cx="8839201" cy="33213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</a:t>
            </a:r>
            <a:endParaRPr/>
          </a:p>
        </p:txBody>
      </p:sp>
      <p:sp>
        <p:nvSpPr>
          <p:cNvPr id="211" name="Google Shape;211;p23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First tweet executed at 9:00 PM on December 1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Last tweet executed at 6:00 PM on December 4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Total of 57 tweets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Most viewed tweet was 23 views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Least viewed was 3 views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Only 1 like across all tweets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No naturally generated follows</a:t>
            </a:r>
            <a:endParaRPr/>
          </a:p>
        </p:txBody>
      </p:sp>
      <p:pic>
        <p:nvPicPr>
          <p:cNvPr id="212" name="Google Shape;21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04950" y="2501300"/>
            <a:ext cx="4743799" cy="1251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Issues</a:t>
            </a:r>
            <a:endParaRPr/>
          </a:p>
        </p:txBody>
      </p:sp>
      <p:sp>
        <p:nvSpPr>
          <p:cNvPr id="218" name="Google Shape;218;p2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Twitter API v2</a:t>
            </a:r>
            <a:endParaRPr/>
          </a:p>
          <a:p>
            <a:pPr indent="-2984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Lack of updated documentation</a:t>
            </a:r>
            <a:endParaRPr/>
          </a:p>
          <a:p>
            <a:pPr indent="-2984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Not able to reply to mentions due to lack of documentation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Large amount of time spent troubleshooting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Quotes.txt file contained </a:t>
            </a:r>
            <a:r>
              <a:rPr lang="en">
                <a:solidFill>
                  <a:srgbClr val="FFFFFF"/>
                </a:solidFill>
              </a:rPr>
              <a:t>— instead of - which messed up .split(“ - ”)</a:t>
            </a:r>
            <a:endParaRPr>
              <a:solidFill>
                <a:srgbClr val="FFFFFF"/>
              </a:solidFill>
            </a:endParaRPr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Char char="●"/>
            </a:pPr>
            <a:r>
              <a:rPr lang="en">
                <a:solidFill>
                  <a:srgbClr val="FFFFFF"/>
                </a:solidFill>
              </a:rPr>
              <a:t>Too many requests in a certain time frame</a:t>
            </a:r>
            <a:endParaRPr>
              <a:solidFill>
                <a:srgbClr val="FFFFFF"/>
              </a:solidFill>
            </a:endParaRPr>
          </a:p>
          <a:p>
            <a:pPr indent="0" lvl="0" marL="457200" rtl="0" algn="l">
              <a:lnSpc>
                <a:spcPct val="2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Time</a:t>
            </a:r>
            <a:endParaRPr/>
          </a:p>
        </p:txBody>
      </p:sp>
      <p:sp>
        <p:nvSpPr>
          <p:cNvPr id="224" name="Google Shape;224;p2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Expand functionality</a:t>
            </a:r>
            <a:endParaRPr/>
          </a:p>
          <a:p>
            <a:pPr indent="-2984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Respond to mentions</a:t>
            </a:r>
            <a:endParaRPr/>
          </a:p>
          <a:p>
            <a:pPr indent="-2984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Analyze trending hashtags</a:t>
            </a:r>
            <a:endParaRPr/>
          </a:p>
          <a:p>
            <a:pPr indent="-2984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etc.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Larger list of quotes</a:t>
            </a:r>
            <a:endParaRPr/>
          </a:p>
          <a:p>
            <a:pPr indent="-2984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Make quote list regenerate once it has run out</a:t>
            </a:r>
            <a:endParaRPr/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Sources</a:t>
            </a:r>
            <a:endParaRPr/>
          </a:p>
        </p:txBody>
      </p:sp>
      <p:sp>
        <p:nvSpPr>
          <p:cNvPr id="230" name="Google Shape;230;p2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-292576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https://stackoverflow.com/questions/70061685/can-a-tweeter-bot-post-tweets-or-quotes-via-v2-api-essential-access</a:t>
            </a:r>
            <a:endParaRPr/>
          </a:p>
          <a:p>
            <a:pPr indent="-282733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How to connect to bot because documentation was outdated</a:t>
            </a:r>
            <a:endParaRPr/>
          </a:p>
          <a:p>
            <a:pPr indent="-292576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https://docs.tweepy.org/en/stable/</a:t>
            </a:r>
            <a:endParaRPr/>
          </a:p>
          <a:p>
            <a:pPr indent="-282733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Official Tweepy documentation</a:t>
            </a:r>
            <a:endParaRPr/>
          </a:p>
          <a:p>
            <a:pPr indent="-292576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u="sng">
                <a:solidFill>
                  <a:schemeClr val="hlink"/>
                </a:solidFill>
                <a:hlinkClick r:id="rId5"/>
              </a:rPr>
              <a:t>https://www.programiz.com/python-programming/time</a:t>
            </a:r>
            <a:endParaRPr/>
          </a:p>
          <a:p>
            <a:pPr indent="-282733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How to use the time module</a:t>
            </a:r>
            <a:endParaRPr/>
          </a:p>
          <a:p>
            <a:pPr indent="-292576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u="sng">
                <a:solidFill>
                  <a:schemeClr val="hlink"/>
                </a:solidFill>
                <a:hlinkClick r:id="rId6"/>
              </a:rPr>
              <a:t>https://quotecatalog.com/quotes/tv/the-office</a:t>
            </a:r>
            <a:endParaRPr/>
          </a:p>
          <a:p>
            <a:pPr indent="-282733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List of The Office quotes</a:t>
            </a:r>
            <a:endParaRPr/>
          </a:p>
          <a:p>
            <a:pPr indent="-292576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u="sng">
                <a:solidFill>
                  <a:schemeClr val="hlink"/>
                </a:solidFill>
                <a:hlinkClick r:id="rId7"/>
              </a:rPr>
              <a:t>https://auth0.com/blog/how-to-make-a-twitter-bot-in-python-using-tweepy/</a:t>
            </a:r>
            <a:endParaRPr/>
          </a:p>
          <a:p>
            <a:pPr indent="-282733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How to go through creating a Twitter developer account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7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